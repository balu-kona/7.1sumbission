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0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14400"/>
            <a:ext cx="164592" cy="4389120"/>
          </a:xfrm>
          <a:prstGeom prst="rect">
            <a:avLst/>
          </a:prstGeom>
          <a:solidFill>
            <a:srgbClr val="E8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234440"/>
            <a:ext cx="100584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AI Travel Planning Agent</a:t>
            </a:r>
          </a:p>
          <a:p>
            <a:pPr>
              <a:spcBef>
                <a:spcPts val="1500"/>
              </a:spcBef>
              <a:defRPr sz="2600">
                <a:solidFill>
                  <a:srgbClr val="BEDCE1"/>
                </a:solidFill>
              </a:defRPr>
            </a:pPr>
            <a:r>
              <a:t>Capstone Project</a:t>
            </a:r>
          </a:p>
          <a:p>
            <a:pPr>
              <a:spcBef>
                <a:spcPts val="2500"/>
              </a:spcBef>
              <a:defRPr sz="2200">
                <a:solidFill>
                  <a:srgbClr val="E8AA36"/>
                </a:solidFill>
              </a:defRPr>
            </a:pPr>
            <a:r>
              <a:t>Balamurali Konathala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3977639"/>
            <a:ext cx="5669280" cy="1143000"/>
          </a:xfrm>
          <a:prstGeom prst="roundRect">
            <a:avLst/>
          </a:prstGeom>
          <a:solidFill>
            <a:srgbClr val="183054"/>
          </a:solidFill>
          <a:ln>
            <a:solidFill>
              <a:srgbClr val="1C89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99032" y="4206240"/>
            <a:ext cx="51572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  <a:latin typeface="Menlo"/>
              </a:defRPr>
            </a:pPr>
            <a:r>
              <a:t>personalized trip planning</a:t>
            </a:r>
            <a:br/>
            <a:r>
              <a:t>retrieval  +  memory  + 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8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4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2"/>
                </a:solidFill>
              </a:defRPr>
            </a:pPr>
            <a:r>
              <a:t>AI Travel Planning Agent  |  Balamurali Konathala  |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8303A"/>
                </a:solidFill>
              </a:defRPr>
            </a:pPr>
            <a:r>
              <a:t>Travel planning involves many separate decisions.</a:t>
            </a:r>
          </a:p>
          <a:p>
            <a:pPr>
              <a:spcAft>
                <a:spcPts val="1200"/>
              </a:spcAft>
              <a:defRPr sz="2100" b="0">
                <a:solidFill>
                  <a:srgbClr val="28303A"/>
                </a:solidFill>
              </a:defRPr>
            </a:pPr>
            <a:r>
              <a:t>Users care about budget, activities, transportation, food, and time.</a:t>
            </a:r>
          </a:p>
          <a:p>
            <a:pPr>
              <a:spcAft>
                <a:spcPts val="1200"/>
              </a:spcAft>
              <a:defRPr sz="2100" b="0">
                <a:solidFill>
                  <a:srgbClr val="28303A"/>
                </a:solidFill>
              </a:defRPr>
            </a:pPr>
            <a:r>
              <a:t>A simple chatbot can ignore a constraint or recommend the wrong information.</a:t>
            </a:r>
          </a:p>
          <a:p>
            <a:pPr>
              <a:spcAft>
                <a:spcPts val="1200"/>
              </a:spcAft>
              <a:defRPr sz="2100" b="0">
                <a:solidFill>
                  <a:srgbClr val="28303A"/>
                </a:solidFill>
              </a:defRPr>
            </a:pPr>
            <a:r>
              <a:t>My goal is to make the planning process more organized and easier to check.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8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4"/>
                </a:solidFill>
              </a:defRPr>
            </a:pPr>
            <a:r>
              <a:t>Example User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2"/>
                </a:solidFill>
              </a:defRPr>
            </a:pPr>
            <a:r>
              <a:t>AI Travel Planning Agent  |  Balamurali Konathala  | 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417320"/>
            <a:ext cx="7863840" cy="3566160"/>
          </a:xfrm>
          <a:prstGeom prst="roundRect">
            <a:avLst/>
          </a:prstGeom>
          <a:solidFill>
            <a:srgbClr val="183054"/>
          </a:solidFill>
          <a:ln>
            <a:solidFill>
              <a:srgbClr val="1C89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1645920"/>
            <a:ext cx="7351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Menlo"/>
              </a:defRPr>
            </a:pPr>
            <a:r>
              <a:t>Destination: Hershys, Pennsylvania</a:t>
            </a:r>
            <a:br/>
            <a:r>
              <a:t>Travelers: 4</a:t>
            </a:r>
            <a:br/>
            <a:r>
              <a:t>Budget: $2,000</a:t>
            </a:r>
            <a:br/>
            <a:r>
              <a:t>Interests: theme parks and zoo</a:t>
            </a:r>
            <a:br/>
            <a:r>
              <a:t>Preferences: kids friendly and Indian food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155448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8303A"/>
                </a:solidFill>
              </a:defRPr>
            </a:pPr>
            <a:r>
              <a:t>The system normalizes the destination and uses the other details when creating the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8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4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2"/>
                </a:solidFill>
              </a:defRPr>
            </a:pPr>
            <a:r>
              <a:t>AI Travel Planning Agent  |  Balamurali Konathala  | 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234440"/>
            <a:ext cx="6583680" cy="4480560"/>
          </a:xfrm>
          <a:prstGeom prst="roundRect">
            <a:avLst/>
          </a:prstGeom>
          <a:solidFill>
            <a:srgbClr val="183054"/>
          </a:solidFill>
          <a:ln>
            <a:solidFill>
              <a:srgbClr val="1C89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1463040"/>
            <a:ext cx="60716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FFFFFF"/>
                </a:solidFill>
                <a:latin typeface="Menlo"/>
              </a:defRPr>
            </a:pPr>
            <a:r>
              <a:t>User</a:t>
            </a:r>
            <a:br/>
            <a:r>
              <a:t>  ↓</a:t>
            </a:r>
            <a:br/>
            <a:r>
              <a:t>Planner → Research + Memory → Budget</a:t>
            </a:r>
            <a:br/>
            <a:r>
              <a:t>  ↓</a:t>
            </a:r>
            <a:br/>
            <a:r>
              <a:t>Itinerary → Critic</a:t>
            </a:r>
            <a:br/>
            <a:r>
              <a:t>  ↓</a:t>
            </a:r>
            <a:br/>
            <a:r>
              <a:t>Final plan or revision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417320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8303A"/>
                </a:solidFill>
              </a:defRPr>
            </a:pPr>
            <a:r>
              <a:t>Each part of the workflow has a focused responsibility.</a:t>
            </a:r>
          </a:p>
          <a:p>
            <a:pPr>
              <a:spcAft>
                <a:spcPts val="1200"/>
              </a:spcAft>
              <a:defRPr sz="1700" b="0">
                <a:solidFill>
                  <a:srgbClr val="28303A"/>
                </a:solidFill>
              </a:defRPr>
            </a:pPr>
            <a:r>
              <a:t>The critic can send the itinerary back for another pass when it finds a problem.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8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4"/>
                </a:solidFill>
              </a:defRPr>
            </a:pPr>
            <a:r>
              <a:t>Agent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2"/>
                </a:solidFill>
              </a:defRPr>
            </a:pPr>
            <a:r>
              <a:t>AI Travel Planning Agent  |  Balamurali Konathala  | 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8303A"/>
                </a:solidFill>
              </a:defRPr>
            </a:pPr>
            <a:r>
              <a:t>Planner Agent — turns user answers into a structured plan.</a:t>
            </a:r>
          </a:p>
          <a:p>
            <a:pPr>
              <a:spcAft>
                <a:spcPts val="1200"/>
              </a:spcAft>
              <a:defRPr sz="2100" b="0">
                <a:solidFill>
                  <a:srgbClr val="28303A"/>
                </a:solidFill>
              </a:defRPr>
            </a:pPr>
            <a:r>
              <a:t>Research Agent — retrieves attractions, hotels, restaurants, and transportation.</a:t>
            </a:r>
          </a:p>
          <a:p>
            <a:pPr>
              <a:spcAft>
                <a:spcPts val="1200"/>
              </a:spcAft>
              <a:defRPr sz="2100" b="0">
                <a:solidFill>
                  <a:srgbClr val="28303A"/>
                </a:solidFill>
              </a:defRPr>
            </a:pPr>
            <a:r>
              <a:t>Budget Agent — calculates nights, costs, and remaining budget.</a:t>
            </a:r>
          </a:p>
          <a:p>
            <a:pPr>
              <a:spcAft>
                <a:spcPts val="1200"/>
              </a:spcAft>
              <a:defRPr sz="2100" b="0">
                <a:solidFill>
                  <a:srgbClr val="28303A"/>
                </a:solidFill>
              </a:defRPr>
            </a:pPr>
            <a:r>
              <a:t>Itinerary Agent — selects activities based on interests and preferences.</a:t>
            </a:r>
          </a:p>
          <a:p>
            <a:pPr>
              <a:spcAft>
                <a:spcPts val="1200"/>
              </a:spcAft>
              <a:defRPr sz="2100" b="0">
                <a:solidFill>
                  <a:srgbClr val="28303A"/>
                </a:solidFill>
              </a:defRPr>
            </a:pPr>
            <a:r>
              <a:t>Critic Agent — checks the plan and recommends revisions.</a:t>
            </a:r>
          </a:p>
          <a:p>
            <a:pPr>
              <a:spcAft>
                <a:spcPts val="1200"/>
              </a:spcAft>
              <a:defRPr sz="2100" b="0">
                <a:solidFill>
                  <a:srgbClr val="28303A"/>
                </a:solidFill>
              </a:defRPr>
            </a:pPr>
            <a:r>
              <a:t>Travel Memory — keeps session preferences.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8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4"/>
                </a:solidFill>
              </a:defRPr>
            </a:pPr>
            <a:r>
              <a:t>Retrieval and Personalization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2"/>
                </a:solidFill>
              </a:defRPr>
            </a:pPr>
            <a:r>
              <a:t>AI Travel Planning Agent  |  Balamurali Konathala  | 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8303A"/>
                </a:solidFill>
              </a:defRPr>
            </a:pPr>
            <a:r>
              <a:t>The Research Agent filters results by the normalized destination.</a:t>
            </a:r>
          </a:p>
          <a:p>
            <a:pPr>
              <a:spcAft>
                <a:spcPts val="1200"/>
              </a:spcAft>
              <a:defRPr sz="2100" b="0">
                <a:solidFill>
                  <a:srgbClr val="28303A"/>
                </a:solidFill>
              </a:defRPr>
            </a:pPr>
            <a:r>
              <a:t>“Hershys” is recognized as “Hershey.”</a:t>
            </a:r>
          </a:p>
          <a:p>
            <a:pPr>
              <a:spcAft>
                <a:spcPts val="1200"/>
              </a:spcAft>
              <a:defRPr sz="2100" b="0">
                <a:solidFill>
                  <a:srgbClr val="28303A"/>
                </a:solidFill>
              </a:defRPr>
            </a:pPr>
            <a:r>
              <a:t>The user’s interests select theme parks and zoos.</a:t>
            </a:r>
          </a:p>
          <a:p>
            <a:pPr>
              <a:spcAft>
                <a:spcPts val="1200"/>
              </a:spcAft>
              <a:defRPr sz="2100" b="0">
                <a:solidFill>
                  <a:srgbClr val="28303A"/>
                </a:solidFill>
              </a:defRPr>
            </a:pPr>
            <a:r>
              <a:t>The food preference selects an Indian restaurant.</a:t>
            </a:r>
          </a:p>
          <a:p>
            <a:pPr>
              <a:spcAft>
                <a:spcPts val="1200"/>
              </a:spcAft>
              <a:defRPr sz="2100" b="0">
                <a:solidFill>
                  <a:srgbClr val="28303A"/>
                </a:solidFill>
              </a:defRPr>
            </a:pPr>
            <a:r>
              <a:t>The driving-time rule removes activities that are too far away.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8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4"/>
                </a:solidFill>
              </a:defRPr>
            </a:pPr>
            <a:r>
              <a:t>Budget and Itinerary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2"/>
                </a:solidFill>
              </a:defRPr>
            </a:pPr>
            <a:r>
              <a:t>AI Travel Planning Agent  |  Balamurali Konathala  | 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371600"/>
            <a:ext cx="5943600" cy="3108960"/>
          </a:xfrm>
          <a:prstGeom prst="roundRect">
            <a:avLst/>
          </a:prstGeom>
          <a:solidFill>
            <a:srgbClr val="183054"/>
          </a:solidFill>
          <a:ln>
            <a:solidFill>
              <a:srgbClr val="1C89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1600200"/>
            <a:ext cx="543153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FFFFFF"/>
                </a:solidFill>
                <a:latin typeface="Menlo"/>
              </a:defRPr>
            </a:pPr>
            <a:r>
              <a:t>Hotel: Hershey Budget Motel</a:t>
            </a:r>
            <a:br/>
            <a:r>
              <a:t>Nights: 4</a:t>
            </a:r>
            <a:br/>
            <a:r>
              <a:t>Estimated total: $1,015</a:t>
            </a:r>
            <a:br/>
            <a:r>
              <a:t>Remaining budget: $985</a:t>
            </a:r>
            <a:br/>
            <a:r>
              <a:t>Status: WITHIN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54480"/>
            <a:ext cx="4023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8303A"/>
                </a:solidFill>
              </a:defRPr>
            </a:pPr>
            <a:r>
              <a:t>Day 2: Hersheypark</a:t>
            </a:r>
          </a:p>
          <a:p>
            <a:pPr>
              <a:spcAft>
                <a:spcPts val="1200"/>
              </a:spcAft>
              <a:defRPr sz="2100" b="0">
                <a:solidFill>
                  <a:srgbClr val="28303A"/>
                </a:solidFill>
              </a:defRPr>
            </a:pPr>
            <a:r>
              <a:t>Day 3: ZooAmerica + Hershey Indian Kitchen</a:t>
            </a:r>
          </a:p>
          <a:p>
            <a:pPr>
              <a:spcAft>
                <a:spcPts val="1200"/>
              </a:spcAft>
              <a:defRPr sz="2100" b="0">
                <a:solidFill>
                  <a:srgbClr val="28303A"/>
                </a:solidFill>
              </a:defRPr>
            </a:pPr>
            <a:r>
              <a:t>Day 4: Hershey’s Chocolate World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8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4"/>
                </a:solidFill>
              </a:defRPr>
            </a:pPr>
            <a:r>
              <a:t>Critic and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2"/>
                </a:solidFill>
              </a:defRPr>
            </a:pPr>
            <a:r>
              <a:t>AI Travel Planning Agent  |  Balamurali Konathala  |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8303A"/>
                </a:solidFill>
              </a:defRPr>
            </a:pPr>
            <a:r>
              <a:t>The critic checks budget, driving time, family suitability, and relaxation time.</a:t>
            </a:r>
          </a:p>
          <a:p>
            <a:pPr>
              <a:spcAft>
                <a:spcPts val="1200"/>
              </a:spcAft>
              <a:defRPr sz="2100" b="0">
                <a:solidFill>
                  <a:srgbClr val="28303A"/>
                </a:solidFill>
              </a:defRPr>
            </a:pPr>
            <a:r>
              <a:t>If the status is NEEDS REVISION, the app rebuilds and reviews the itinerary.</a:t>
            </a:r>
          </a:p>
          <a:p>
            <a:pPr>
              <a:spcAft>
                <a:spcPts val="1200"/>
              </a:spcAft>
              <a:defRPr sz="2100" b="0">
                <a:solidFill>
                  <a:srgbClr val="28303A"/>
                </a:solidFill>
              </a:defRPr>
            </a:pPr>
            <a:r>
              <a:t>The Hershey test finished with an APPROVED status.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8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4"/>
                </a:solidFill>
              </a:defRPr>
            </a:pPr>
            <a:r>
              <a:t>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2"/>
                </a:solidFill>
              </a:defRPr>
            </a:pPr>
            <a:r>
              <a:t>AI Travel Planning Agent  |  Balamurali Konathala  | 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8303A"/>
                </a:solidFill>
              </a:defRPr>
            </a:pPr>
            <a:r>
              <a:t>I created two automated evaluation cases.</a:t>
            </a:r>
          </a:p>
          <a:p>
            <a:pPr>
              <a:spcAft>
                <a:spcPts val="1200"/>
              </a:spcAft>
              <a:defRPr sz="2200" b="0">
                <a:solidFill>
                  <a:srgbClr val="28303A"/>
                </a:solidFill>
              </a:defRPr>
            </a:pPr>
            <a:r>
              <a:t>Hershey preference-aware trip</a:t>
            </a:r>
          </a:p>
          <a:p>
            <a:pPr>
              <a:spcAft>
                <a:spcPts val="1200"/>
              </a:spcAft>
              <a:defRPr sz="2200" b="0">
                <a:solidFill>
                  <a:srgbClr val="28303A"/>
                </a:solidFill>
              </a:defRPr>
            </a:pPr>
            <a:r>
              <a:t>Orlando destination filtering</a:t>
            </a:r>
          </a:p>
          <a:p>
            <a:pPr>
              <a:spcAft>
                <a:spcPts val="1200"/>
              </a:spcAft>
              <a:defRPr sz="2200" b="0">
                <a:solidFill>
                  <a:srgbClr val="28303A"/>
                </a:solidFill>
              </a:defRPr>
            </a:pPr>
            <a:r>
              <a:t>The tests check retrieval, preferences, restaurant matching, budget, and critic approval.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828800"/>
            <a:ext cx="3840480" cy="1280160"/>
          </a:xfrm>
          <a:prstGeom prst="roundRect">
            <a:avLst/>
          </a:prstGeom>
          <a:solidFill>
            <a:srgbClr val="183054"/>
          </a:solidFill>
          <a:ln>
            <a:solidFill>
              <a:srgbClr val="1C89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71231" y="2057400"/>
            <a:ext cx="3328416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  <a:latin typeface="Menlo"/>
              </a:defRPr>
            </a:pPr>
            <a:r>
              <a:t>Evaluation result: 2/2 cases passed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8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4"/>
                </a:solidFill>
              </a:defRPr>
            </a:pPr>
            <a:r>
              <a:t>Limitations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2"/>
                </a:solidFill>
              </a:defRPr>
            </a:pPr>
            <a:r>
              <a:t>AI Travel Planning Agent  |  Balamurali Konathala  |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8303A"/>
                </a:solidFill>
              </a:defRPr>
            </a:pPr>
            <a:r>
              <a:t>The current data is sample data, not live travel information.</a:t>
            </a:r>
          </a:p>
          <a:p>
            <a:pPr>
              <a:spcAft>
                <a:spcPts val="1200"/>
              </a:spcAft>
              <a:defRPr sz="2100" b="0">
                <a:solidFill>
                  <a:srgbClr val="28303A"/>
                </a:solidFill>
              </a:defRPr>
            </a:pPr>
            <a:r>
              <a:t>Only a small number of destinations are included.</a:t>
            </a:r>
          </a:p>
          <a:p>
            <a:pPr>
              <a:spcAft>
                <a:spcPts val="1200"/>
              </a:spcAft>
              <a:defRPr sz="2100" b="0">
                <a:solidFill>
                  <a:srgbClr val="28303A"/>
                </a:solidFill>
              </a:defRPr>
            </a:pPr>
            <a:r>
              <a:t>Memory lasts only during the current run.</a:t>
            </a:r>
          </a:p>
          <a:p>
            <a:pPr>
              <a:spcAft>
                <a:spcPts val="1200"/>
              </a:spcAft>
              <a:defRPr sz="2100" b="0">
                <a:solidFill>
                  <a:srgbClr val="28303A"/>
                </a:solidFill>
              </a:defRPr>
            </a:pPr>
            <a:r>
              <a:t>Future work: live APIs, more destinations, persistent memory, and more test cases.</a:t>
            </a:r>
          </a:p>
          <a:p>
            <a:pPr>
              <a:spcAft>
                <a:spcPts val="1200"/>
              </a:spcAft>
              <a:defRPr sz="2100" b="0">
                <a:solidFill>
                  <a:srgbClr val="28303A"/>
                </a:solidFill>
              </a:defRPr>
            </a:pPr>
            <a:r>
              <a:t>A person should confirm current prices, schedules, and advisories before booking.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