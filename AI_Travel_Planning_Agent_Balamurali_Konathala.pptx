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B5D3C5-E259-4F45-B2D0-90B7B7CEDB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F270A4-1275-49E8-B0D6-6981648C86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F7F12F-EC88-4584-BEAE-55A0087642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729FAF5-6C41-44F2-9A54-266F164998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AADE2D-B5FF-42F0-97B2-AEDB701DBC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BB3CF0-B614-4105-BB5E-A0BBE78DF0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C32F37-BA68-40A0-82F3-ABE22FB88E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B41132-167F-48B5-993B-89D82F57DC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54115A-9EF8-40F7-915C-363219D371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BFF42F-90F5-46FE-B10B-D4F1D8780D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DE1652-B99F-43B3-B329-7A90B59855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83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640080" y="914400"/>
            <a:ext cx="164160" cy="4388760"/>
          </a:xfrm>
          <a:prstGeom prst="rect">
            <a:avLst/>
          </a:prstGeom>
          <a:solidFill>
            <a:srgbClr val="e8aa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828800" y="347040"/>
            <a:ext cx="5290200" cy="193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AI Travel Planning Agent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00"/>
              </a:spcBef>
            </a:pPr>
            <a:r>
              <a:rPr lang="en-US" sz="2600" b="0" u="none" strike="noStrike">
                <a:solidFill>
                  <a:srgbClr val="bedce1"/>
                </a:solidFill>
                <a:effectLst/>
                <a:uFillTx/>
                <a:latin typeface="Calibri"/>
              </a:rPr>
              <a:t>Capstone Project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500"/>
              </a:spcBef>
            </a:pPr>
            <a:r>
              <a:rPr lang="en-US" sz="2200" b="0" u="none" strike="noStrike">
                <a:solidFill>
                  <a:srgbClr val="e8aa36"/>
                </a:solidFill>
                <a:effectLst/>
                <a:uFillTx/>
                <a:latin typeface="Calibri"/>
              </a:rPr>
              <a:t>Balamurali Konathala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ounded Rectangle 3"/>
          <p:cNvSpPr/>
          <p:nvPr/>
        </p:nvSpPr>
        <p:spPr>
          <a:xfrm>
            <a:off x="1143000" y="3977640"/>
            <a:ext cx="5668920" cy="1142640"/>
          </a:xfrm>
          <a:prstGeom prst="roundRect">
            <a:avLst>
              <a:gd name="adj" fmla="val 16667"/>
            </a:avLst>
          </a:prstGeom>
          <a:solidFill>
            <a:srgbClr val="183054"/>
          </a:solidFill>
          <a:ln>
            <a:solidFill>
              <a:srgbClr val="1c899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98960" y="4206240"/>
            <a:ext cx="515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personalized trip planning</a:t>
            </a:r>
            <a:br>
              <a:rPr sz="1900"/>
            </a:br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retrieval  +  memory  +  review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The Problem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868680" y="1234440"/>
            <a:ext cx="1042380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Travel planning involves many separate decisions.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Users care about budget, activities, transportation, food, and time.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A simple chatbot can ignore a constraint or recommend the wrong information.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My goal is to make the planning process more organized and easier to check.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Example User Request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4"/>
          <p:cNvSpPr/>
          <p:nvPr/>
        </p:nvSpPr>
        <p:spPr>
          <a:xfrm>
            <a:off x="868680" y="1417320"/>
            <a:ext cx="7863480" cy="3565800"/>
          </a:xfrm>
          <a:prstGeom prst="roundRect">
            <a:avLst>
              <a:gd name="adj" fmla="val 16667"/>
            </a:avLst>
          </a:prstGeom>
          <a:solidFill>
            <a:srgbClr val="183054"/>
          </a:solidFill>
          <a:ln>
            <a:solidFill>
              <a:srgbClr val="1c899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1124640" y="1645920"/>
            <a:ext cx="73515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Destination: Hershys, Pennsylvania</a:t>
            </a:r>
            <a:br>
              <a:rPr sz="2000"/>
            </a:b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Travelers: 4</a:t>
            </a:r>
            <a:br>
              <a:rPr sz="2000"/>
            </a:b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Budget: $2,000</a:t>
            </a:r>
            <a:br>
              <a:rPr sz="2000"/>
            </a:b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Interests: theme parks and zoo</a:t>
            </a:r>
            <a:br>
              <a:rPr sz="2000"/>
            </a:b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Preferences: kids friendly and Indian food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9052560" y="1554480"/>
            <a:ext cx="23770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system normalizes the destination and uses the other details when creating the plan.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System Architecture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4"/>
          <p:cNvSpPr/>
          <p:nvPr/>
        </p:nvSpPr>
        <p:spPr>
          <a:xfrm>
            <a:off x="868680" y="1234440"/>
            <a:ext cx="6583320" cy="4480200"/>
          </a:xfrm>
          <a:prstGeom prst="roundRect">
            <a:avLst>
              <a:gd name="adj" fmla="val 16667"/>
            </a:avLst>
          </a:prstGeom>
          <a:solidFill>
            <a:srgbClr val="183054"/>
          </a:solidFill>
          <a:ln>
            <a:solidFill>
              <a:srgbClr val="1c899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5"/>
          <p:cNvSpPr/>
          <p:nvPr/>
        </p:nvSpPr>
        <p:spPr>
          <a:xfrm>
            <a:off x="1124640" y="1463040"/>
            <a:ext cx="607140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User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  ↓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Planner → Research + Memory → Budget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  ↓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Itinerary → Critic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  ↓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Final plan or revision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6"/>
          <p:cNvSpPr/>
          <p:nvPr/>
        </p:nvSpPr>
        <p:spPr>
          <a:xfrm>
            <a:off x="7772400" y="1417320"/>
            <a:ext cx="356580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Each part of the workflow has a focused responsibility.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7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critic can send the itinerary back for another pass when it finds a problem.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Agent Roles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868680" y="1234440"/>
            <a:ext cx="1042380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Planner Agent — turns user answers into a structured plan.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Research Agent — retrieves attractions, hotels, restaurants, and transportation.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Budget Agent — calculates nights, costs, and remaining budget.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Itinerary Agent — selects activities based on interests and preferences.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Critic Agent — checks the plan and recommends revisions.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Travel Memory — keeps session preferences.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Retrieval and Personalization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868680" y="1234440"/>
            <a:ext cx="1042380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Research Agent filters results by the normalized destination.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“Hershys” is recognized as “Hershey.”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user’s interests select theme parks and zoos.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food preference selects an Indian restaurant.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driving-time rule removes activities that are too far away.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Budget and Itinerary Result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4"/>
          <p:cNvSpPr/>
          <p:nvPr/>
        </p:nvSpPr>
        <p:spPr>
          <a:xfrm>
            <a:off x="868680" y="1371600"/>
            <a:ext cx="5943240" cy="3108600"/>
          </a:xfrm>
          <a:prstGeom prst="roundRect">
            <a:avLst>
              <a:gd name="adj" fmla="val 16667"/>
            </a:avLst>
          </a:prstGeom>
          <a:solidFill>
            <a:srgbClr val="183054"/>
          </a:solidFill>
          <a:ln>
            <a:solidFill>
              <a:srgbClr val="1c899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1124640" y="1600200"/>
            <a:ext cx="543132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Hotel: Hershey Budget Motel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Nights: 4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Estimated total: $1,015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Remaining budget: $985</a:t>
            </a:r>
            <a:br>
              <a:rPr sz="2100"/>
            </a:b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Status: WITHIN BUDGET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315200" y="1554480"/>
            <a:ext cx="402300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Day 2: Hersheypark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Day 3: ZooAmerica + Hershey Indian Kitchen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Day 4: Hershey’s Chocolate World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Critic and Reliability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868680" y="1234440"/>
            <a:ext cx="1042380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critic checks budget, driving time, family suitability, and relaxation time.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If the status is NEEDS REVISION, the app rebuilds and reviews the itinerary.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Hershey test finished with an APPROVED status.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Evaluation Results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"/>
          <p:cNvSpPr/>
          <p:nvPr/>
        </p:nvSpPr>
        <p:spPr>
          <a:xfrm>
            <a:off x="868680" y="1234440"/>
            <a:ext cx="64004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I created two automated evaluation cases.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Hershey preference-aware trip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Orlando destination filtering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tests check retrieval, preferences, restaurant matching, budget, and critic approval.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5"/>
          <p:cNvSpPr/>
          <p:nvPr/>
        </p:nvSpPr>
        <p:spPr>
          <a:xfrm>
            <a:off x="7315200" y="1828800"/>
            <a:ext cx="3840120" cy="1279800"/>
          </a:xfrm>
          <a:prstGeom prst="roundRect">
            <a:avLst>
              <a:gd name="adj" fmla="val 16667"/>
            </a:avLst>
          </a:prstGeom>
          <a:solidFill>
            <a:srgbClr val="183054"/>
          </a:solidFill>
          <a:ln>
            <a:solidFill>
              <a:srgbClr val="1c899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6"/>
          <p:cNvSpPr/>
          <p:nvPr/>
        </p:nvSpPr>
        <p:spPr>
          <a:xfrm>
            <a:off x="7571160" y="2057400"/>
            <a:ext cx="3328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Menlo"/>
              </a:rPr>
              <a:t>Evaluation result: 2/2 cases passed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c89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2"/>
          <p:cNvSpPr/>
          <p:nvPr/>
        </p:nvSpPr>
        <p:spPr>
          <a:xfrm>
            <a:off x="594360" y="38412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83054"/>
                </a:solidFill>
                <a:effectLst/>
                <a:uFillTx/>
                <a:latin typeface="Calibri"/>
              </a:rPr>
              <a:t>Limitations and Future Work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594360" y="6473880"/>
            <a:ext cx="10972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7882"/>
                </a:solidFill>
                <a:effectLst/>
                <a:uFillTx/>
                <a:latin typeface="Calibri"/>
              </a:rPr>
              <a:t>AI Travel Planning Agent  |  Balamurali Konathala  |  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4"/>
          <p:cNvSpPr/>
          <p:nvPr/>
        </p:nvSpPr>
        <p:spPr>
          <a:xfrm>
            <a:off x="868680" y="1234440"/>
            <a:ext cx="10423800" cy="48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The current data is sample data, not live travel information.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Only a small number of destinations are included.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Memory lasts only during the current run.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Future work: live APIs, more destinations, persistent memory, and more test cases.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100" b="0" u="none" strike="noStrike">
                <a:solidFill>
                  <a:srgbClr val="28303a"/>
                </a:solidFill>
                <a:effectLst/>
                <a:uFillTx/>
                <a:latin typeface="Calibri"/>
              </a:rPr>
              <a:t>A person should confirm current prices, schedules, and advisories before booking.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1Doc/1.5.0.$MacOSX_X86_64 LibreOffice_project/0bca66bb17152f525d97b4238ad5c7f9738f63f9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2026-09-08T23:24:14Z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